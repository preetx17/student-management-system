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63440" y="1371600"/>
            <a:ext cx="283464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FINAL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Student Management System</a:t>
            </a:r>
          </a:p>
          <a:p>
            <a:pPr algn="ctr">
              <a:spcBef>
                <a:spcPts val="2000"/>
              </a:spcBef>
              <a:defRPr sz="2800">
                <a:solidFill>
                  <a:srgbClr val="00F2FE"/>
                </a:solidFill>
              </a:defRPr>
            </a:pPr>
            <a:r>
              <a:t>A Secure, Scalable, and Modern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645920"/>
            <a:ext cx="2286000" cy="365760"/>
          </a:xfrm>
          <a:prstGeom prst="roundRect">
            <a:avLst/>
          </a:prstGeom>
          <a:solidFill>
            <a:srgbClr val="070A1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THE OLD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Why Upgrade?</a:t>
            </a:r>
          </a:p>
          <a:p>
            <a:pPr>
              <a:spcBef>
                <a:spcPts val="1000"/>
              </a:spcBef>
              <a:defRPr sz="2200">
                <a:solidFill>
                  <a:srgbClr val="94A3B8"/>
                </a:solidFill>
              </a:defRPr>
            </a:pPr>
            <a:r>
              <a:t>Legacy systems were holding operations back with fragmented data and slow UI.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173736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</a:defRPr>
            </a:pPr>
            <a:r>
              <a:t>Key Limitations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Vulnerable Data: Excel and paper logs lead to data loss and corruption.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Device Locked: No cloud access meant being stuck to one office PC.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Zero Role Security: Everyone had unrestricted access to all sensitive data.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Slow Manual Workflow: Searching and updating records was extremely tedious.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0" y="1645920"/>
            <a:ext cx="2286000" cy="365760"/>
          </a:xfrm>
          <a:prstGeom prst="roundRect">
            <a:avLst/>
          </a:prstGeom>
          <a:solidFill>
            <a:srgbClr val="070A1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THE NEW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22860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 Modern Solution</a:t>
            </a:r>
          </a:p>
          <a:p>
            <a:pPr>
              <a:spcBef>
                <a:spcPts val="1000"/>
              </a:spcBef>
              <a:defRPr sz="2200">
                <a:solidFill>
                  <a:srgbClr val="94A3B8"/>
                </a:solidFill>
              </a:defRPr>
            </a:pPr>
            <a:r>
              <a:t>We built an automated, secure, and beautiful centralized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</a:defRPr>
            </a:pPr>
            <a:r>
              <a:t>Major Upgrades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Real-time Cloud Sync: Access records securely from any device.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Strict Role Hierarchies: Owner vs Teacher privileges ensure data safety.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Bulk Automation: 1-Click CSV Import and Export for hundreds of records.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Elegant SPA Design: Glassmorphism UI that feels premium and responsive.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Under The Hood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2560320" cy="3840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828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</a:defRPr>
            </a:pPr>
            <a:r>
              <a:t>Frontend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HTML5 &amp; CSS3 Modules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Vanilla JS for lightning speed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Premium Glassmorphism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560320"/>
            <a:ext cx="2560320" cy="3840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926080"/>
            <a:ext cx="1828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</a:defRPr>
            </a:pPr>
            <a:r>
              <a:t>Backend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Node.js Environment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Express 5 API Router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Stateless Session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560320"/>
            <a:ext cx="2560320" cy="3840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926080"/>
            <a:ext cx="1828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</a:defRPr>
            </a:pPr>
            <a:r>
              <a:t>Database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Serverless MySQL Engine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Bcrypt Hash Security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Normalized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560320"/>
            <a:ext cx="2560320" cy="3840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926080"/>
            <a:ext cx="1828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</a:defRPr>
            </a:pPr>
            <a:r>
              <a:t>Deployment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Automated CI/CD Pipeline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Zero-downtime Rollouts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Environment Secrets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Database Entities &amp; Relationships</a:t>
            </a:r>
          </a:p>
        </p:txBody>
      </p:sp>
      <p:pic>
        <p:nvPicPr>
          <p:cNvPr id="4" name="Picture 3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DFD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Boundaries (Context)</a:t>
            </a:r>
          </a:p>
        </p:txBody>
      </p:sp>
      <p:pic>
        <p:nvPicPr>
          <p:cNvPr id="4" name="Picture 3" descr="dfd_level0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DFD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Processes &amp; Decomposed Modules</a:t>
            </a:r>
          </a:p>
        </p:txBody>
      </p:sp>
      <p:pic>
        <p:nvPicPr>
          <p:cNvPr id="4" name="Picture 3" descr="dfd_level1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BEFORE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Previous Dashboard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5912" cy="4754880"/>
          </a:xfrm>
          <a:prstGeom prst="rect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Please insert screenshot here:</a:t>
            </a:r>
          </a:p>
          <a:p>
            <a:r>
              <a:t>before_dashboard.png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BEFORE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Previous Form Inputs &amp;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5912" cy="4754880"/>
          </a:xfrm>
          <a:prstGeom prst="rect">
            <a:avLst/>
          </a:prstGeom>
          <a:solidFill>
            <a:srgbClr val="94A3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Please insert screenshot here:</a:t>
            </a:r>
          </a:p>
          <a:p>
            <a:r>
              <a:t>before_forms.png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Did We Actually Change?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329184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</a:defRPr>
            </a:pPr>
            <a:r>
              <a:t>Single Page App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Complete rewrite to remove page reloads.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Provides an 'App-like' instant feel.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Dynamic DOM manipulation.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560320"/>
            <a:ext cx="329184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92608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</a:defRPr>
            </a:pPr>
            <a:r>
              <a:t>Integrated Views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Created unified Teacher and Student rosters.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Advanced course filtering added.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Clean, modern data tables.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60320"/>
            <a:ext cx="3291840" cy="36576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92608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</a:defRPr>
            </a:pPr>
            <a:r>
              <a:t>Quick Modals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Add/Edit records without leaving the page.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Real-time visual toast notifications.</a:t>
            </a:r>
          </a:p>
          <a:p>
            <a:pPr>
              <a:spcAft>
                <a:spcPts val="1600"/>
              </a:spcAft>
              <a:defRPr sz="1600">
                <a:solidFill>
                  <a:srgbClr val="E2E8F0"/>
                </a:solidFill>
              </a:defRPr>
            </a:pPr>
            <a:r>
              <a:t>→  Responsive on all screen sizes.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645920"/>
            <a:ext cx="2286000" cy="365760"/>
          </a:xfrm>
          <a:prstGeom prst="roundRect">
            <a:avLst/>
          </a:prstGeom>
          <a:solidFill>
            <a:srgbClr val="070A1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Rock Solid Defense</a:t>
            </a:r>
          </a:p>
          <a:p>
            <a:pPr>
              <a:spcBef>
                <a:spcPts val="1000"/>
              </a:spcBef>
              <a:defRPr sz="2200">
                <a:solidFill>
                  <a:srgbClr val="94A3B8"/>
                </a:solidFill>
              </a:defRPr>
            </a:pPr>
            <a:r>
              <a:t>Enterprise-grade protection was built into every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173736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</a:defRPr>
            </a:pPr>
            <a:r>
              <a:t>Defense Mechanisms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Cryptographic Hashing: Bcrypt prevents reverse-engineering of passwords.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Network Guards: Session tokens and IP rate limiting block brute-force attacks.</a:t>
            </a:r>
          </a:p>
          <a:p>
            <a:pPr>
              <a:spcAft>
                <a:spcPts val="1600"/>
              </a:spcAft>
              <a:defRPr sz="1800">
                <a:solidFill>
                  <a:srgbClr val="E2E8F0"/>
                </a:solidFill>
              </a:defRPr>
            </a:pPr>
            <a:r>
              <a:t>→  Data Sanitization: Malicious SQL payloads are neutralized instantly via prepared statements.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Process Logic &amp; Validations</a:t>
            </a:r>
          </a:p>
        </p:txBody>
      </p:sp>
      <p:pic>
        <p:nvPicPr>
          <p:cNvPr id="4" name="Picture 3" descr="process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Actor Privileges &amp; Access</a:t>
            </a:r>
          </a:p>
        </p:txBody>
      </p:sp>
      <p:pic>
        <p:nvPicPr>
          <p:cNvPr id="4" name="Picture 3" descr="use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591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63440" y="1371600"/>
            <a:ext cx="283464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Built for the Future</a:t>
            </a:r>
          </a:p>
          <a:p>
            <a:pPr algn="ctr">
              <a:spcBef>
                <a:spcPts val="2000"/>
              </a:spcBef>
              <a:defRPr sz="2800">
                <a:solidFill>
                  <a:srgbClr val="00F2FE"/>
                </a:solidFill>
              </a:defRPr>
            </a:pPr>
            <a:r>
              <a:t>A massive leap to a secure, automated, scalable platform.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63440" y="1371600"/>
            <a:ext cx="283464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2800">
                <a:solidFill>
                  <a:srgbClr val="00F2FE"/>
                </a:solidFill>
              </a:defRPr>
            </a:pPr>
            <a:r>
              <a:t>Open for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