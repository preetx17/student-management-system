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47472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FULL-STACK ACADEMIC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800" b="1">
                <a:solidFill>
                  <a:srgbClr val="FFFFFF"/>
                </a:solidFill>
              </a:defRPr>
            </a:pPr>
            <a:r>
              <a:t>Student Management</a:t>
            </a:r>
            <a:br/>
            <a:r>
              <a:t>System (SMS)</a:t>
            </a:r>
          </a:p>
          <a:p>
            <a:pPr>
              <a:defRPr sz="2200">
                <a:solidFill>
                  <a:srgbClr val="00F2FE"/>
                </a:solidFill>
              </a:defRPr>
            </a:pPr>
            <a:r>
              <a:t>Complete System Architecture &amp; Technical Presentation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572000"/>
            <a:ext cx="3291840" cy="16459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8006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Modern Tech Stack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Node.js, Express &amp; MySQL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Cloud TiDB &amp; Render CI/CD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572000"/>
            <a:ext cx="3291840" cy="16459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48006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Enterprise Security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Bcrypt + Rate Limiter Shield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Role-Based Access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572000"/>
            <a:ext cx="3291840" cy="16459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06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Universal Interface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Glassmorphism Design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100% Mobile &amp; PC Responsive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Vision &amp; Core Strategic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What is the SMS Project?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An automated, cloud-native web platform built for modern academic institutions.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Replaces slow manual paper registers and single-PC desktop legacy software.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Provides real-time centralized administration for student records and teacher profiles.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Delivers instant automated analytics, CSV batch import/export, and live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Core Strategic Goals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Universal Accessibility: Seamless access across desktop PCs, tablets, and smartphones.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High Data Integrity: Strict database-level age bounds, whitelists, and unique constraints.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Zero Software Maintenance: Powered by cloud serverless MySQL and free CI/CD web hosting.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Institutional Governance: Multi-tenant protection with secret registration invite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Legacy Systems vs. Modern SMS Web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❌ Legacy Paper &amp; Desktop Software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File Corruption: Excel files and physical registers suffer permanent data loss.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Device Locked: Single desktop software is completely inaccessible outside the office.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Zero Access Control: Unrestricted file access exposes private student records.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Tedious Lookup: Finding specific student details requires minutes of searching.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Static UX: Incapable of rendering on modern mobile devices or tablets.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✅ Modern SMS Cloud Platform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Real-Time Sync: Cloud TiDB database synchronizes changes instantly for all users.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Multi-Role Security: Owner vs. Teacher privileges gated by cryptographic password hashing.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Instant Autocomplete: Sub-millisecond filtering by student name, ID, or course.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Batch Automation: 1-Click bulk CSV uploading and automated roster CSV exporting.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Responsive Touch UI: Glassmorphism interface optimized for all screens.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Complete Multi-Tier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Frontend UI Engine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HTML5 &amp; CSS3: Semantic markup styled with custom Glassmorphism design tokens.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Vanilla JavaScript ES6+: Ultra-fast client-side execution with zero framework bloat.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SweetAlert2: Beautiful animated modals for destructive confirm dialogs.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FontAwesome 6.4: Vector icons for intuitive visual cues across the entire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Backend &amp; Cloud Persistence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Node.js &amp; Express 5: High-throughput event loop with REST API routing middleware.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Bcrypt &amp; Express-Session: Cryptographic password hashing and 24-hour cookie sessions.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TiDB Cloud (MySQL): Serverless distributed SQL database hosted on AWS.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Render.com CI/CD: Automated continuous deployment pipeline integrated with GitHub.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3-Tier System Architecture Layering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Tier 1: Presentation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Client Browsers &amp; Mobile Devices.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Tech: HTML5, CSS3, ES6 JS.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Features: Live Search, Dynamic Cards, CSV Export, Modal Dialogs.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Protocol: Asynchronous JSON &amp; FormData HTTP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91640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Tier 2: Application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Node.js &amp; Express 5 Server.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Reverse Proxy: Render TLS Proxy.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Features: Rate Limiting, Input Sanitization, Bcrypt Auth, Session Guard, Multer Storage.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Logic: Age verification &amp; Course whitelist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Tier 3: Data Persistence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Cloud SQL &amp; Disk Storage.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Engine: TiDB Cloud (MySQL).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Tables: `teachers`, `students`, `settings`.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Assets: `/public/uploads/` photo files.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Security: TLS Encrypted SSL Connection.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Entity-Relationship (ER) Diagram — Full Schema Map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Database Schema Deep-Dive: TEACHERS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Table Structure &amp; Attributes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`id`: INT AUTO_INCREMENT PRIMARY KEY (Unique teacher ID).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`username`: VARCHAR(255) UNIQUE NOT NULL (Login ID).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`password`: VARCHAR(255) NOT NULL (Bcrypt hash with 10 salt rounds).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`role`: VARCHAR(50) DEFAULT 'teacher' ('owner' or 'teacher').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`name`, `age`, `department`: Faculty biographical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Key Features &amp; Constraints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`photo`: File path string referencing custom uploaded avatar in `/public/uploads/`.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`course1`, `course2`: Primary &amp; secondary academic courses assigned to teacher.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Authentication: `username` uniqueness prevents duplicate account creation.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Security: Raw passwords are NEVER saved in plaintext; only Bcrypt hashes.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Database Schema Deep-Dive: STUDENTS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Table Structure &amp; Fields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`id`: INT PRIMARY KEY (Institutional Roll Number).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`name`: VARCHAR(100) NOT NULL (Student full legal name).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`age`: INT CHECK (age &gt;= 16 AND age &lt;= 25) (Enforces valid student age range).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`course`: VARCHAR(100) NOT NULL (Must match whitelisted department curriculum).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`email`: VARCHAR(100) UNIQUE NOT NULL (Student contact email).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Integrity &amp; Storage Rules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`photo`: File path to uploaded student profile picture.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Validation: Rejects out-of-range student ages on server and database level.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Uniqueness: Duplicate student Roll IDs or Emails trigger SQL duplicate key errors.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1-to-N Relationship: Multiple students managed per active faculty teacher.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Database Schema Deep-Dive: SETTINGS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System Configuration Store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`key_name`: VARCHAR(50) PRIMARY KEY (System configuration parameter name).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`key_value`: VARCHAR(255) NOT NULL (Dynamic setting value string).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Key Setting: `key_name = 'invite_code'`, `key_value = 'TEACHER2026'`.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Default Seed: Auto-created during self-healing database initialization.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Governance &amp; Access Rules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Role Restriction: Modification strictly restricted to `owner` (Super Admin) role.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Registration Gate: New teachers MUST supply active `invite_code` to register.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Dynamic Rotation: Owner can update the invite code anytime via Admin Settings modal.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1-to-1 Control: Single system settings record governs institutional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DATA FLOW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 Flow Diagram — Level 0 Context Diagram</a:t>
            </a:r>
          </a:p>
        </p:txBody>
      </p:sp>
      <p:pic>
        <p:nvPicPr>
          <p:cNvPr id="4" name="Picture 3" descr="dfd_level0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DATA FLOW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DFD Level 0: System Boundaries &amp; Actors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Central Process (Process 0.0)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Node.js &amp; Express API Engine orchestrating all incoming client requests.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Acts as security barrier enforcing Session Authentication &amp; Rate Limiting.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Receives HTTP REST payloads (JSON &amp; Multipart FormData).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Dispatches sanitized SQL transactions over TLS to Cloud TiDB.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External Actors &amp; Entities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Teacher Actor: Submits login/signup requests, CRUD student forms, CSV files &amp; avatars.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Owner Actor: Manages system settings, rotates invite codes, supervises teacher roles.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MySQL TiDB Store: Persistent cloud database storing relational records.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Disk Store: Server filesystem `/public/uploads/` storing avatar image assets.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DATA FLOW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 Flow Diagram — Level 1 Decomposed Process Map</a:t>
            </a:r>
          </a:p>
        </p:txBody>
      </p:sp>
      <p:pic>
        <p:nvPicPr>
          <p:cNvPr id="4" name="Picture 3" descr="dfd_level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DATA FLOW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DFD Level 1: Sub-Processes &amp; Data Flow Nodes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Core Sub-Processes 1.0 to 3.0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1.0 Authentication: Validates credentials, checks Bcrypt hash, issues 24h session cookie.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2.0 Student CRUD Engine: Enforces age (16-25) &amp; course whitelist; handles Multer photo uploads.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3.0 Batch CSV Processor: Parses CSV client-side; runs `INSERT IGNORE` for duplicate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Sub-Processes 4.0 &amp; 5.0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4.0 Profile &amp; Avatar Manager: Updates teacher bio, assigned courses, and photo asset.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5.0 Settings &amp; Governance: Restricts invite code updates strictly to `owner` role.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Data Store Security: All database flows utilize parameterized queries over TLS.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Use Case Diagram &amp; Functional Matrix</a:t>
            </a:r>
          </a:p>
        </p:txBody>
      </p:sp>
      <p:pic>
        <p:nvPicPr>
          <p:cNvPr id="4" name="Picture 3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Functional Matrix: Teacher Role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Authentication &amp; Roster Use Cases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UC-1: Authenticate / Log In &amp; Log Out securely.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UC-2: Register new account via secret admin invite code.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UC-3: Add New Student with custom photo asset.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UC-4: Edit existing student information &amp; update photo.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UC-5: Delete student record with instant DOM cleanup.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Search &amp; Roster Tools Use Cases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UC-6: Live Autocomplete search across student names, IDs &amp; courses.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UC-7: Export student roster to structured `.csv` file.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UC-8: Bulk Import multiple students via CSV file upload.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UC-9: Manage teacher personal profile bio and assigned courses.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Functional Matrix: Owner (Super Admin)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Administrative Governance Use Cases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UC-10: Access Admin Settings Modal with secret privilege controls.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UC-11: Rotate &amp; Update institutional registration `invite_code`.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UC-12: Supervise Teacher Accounts &amp; view institutional roster.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Full Inheritance: Owner inherits ALL standard Teacher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Security &amp; Privilege Guards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Server-Side Authorization: Middleware verifies session role === 'owner'.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Registration Protection: Disabling or changing invite code blocks unauthorized signups.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Single Super Admin: Default seed automatically creates owner account on boot.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Audit Trail: Administrative setting changes are persisted to Cloud TiDB.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LOGIC &amp;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Process Flow &amp; Step-by-Step Activity Pipelines</a:t>
            </a:r>
          </a:p>
        </p:txBody>
      </p:sp>
      <p:pic>
        <p:nvPicPr>
          <p:cNvPr id="4" name="Picture 3" descr="process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LOGIC &amp;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Process Logic: Pipeline A (Student Enrollment)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Execution Steps 1 to 3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1: Form Submit $\rightarrow$ Teacher inputs student ID, name, age, course, email &amp; photo.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2: Session Check $\rightarrow$ Middleware `requireAuth` verifies active 24h session cookie.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3: Validation $\rightarrow$ Verifies Age (16 &lt;= age &lt;= 25) &amp; Whitelisted Course curriculum.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Execution Steps 4 to 6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4: Multer Upload $\rightarrow$ Filters photo MIME type (images only) &amp; &lt;= 5MB file limit.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5: SQL Insert $\rightarrow$ Executes parameterized `INSERT INTO students` query.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6: UI Refresh $\rightarrow$ Returns 201 Created; updates table DOM &amp; stats counters instantly.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LOGIC &amp;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Process Logic: Pipeline B (Teacher Authentication)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Execution Steps 1 to 3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1: Submit Credentials $\rightarrow$ User inputs username &amp; password on login form.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2: Rate Limiter Guard $\rightarrow$ `express-rate-limit` enforces max 10 requests / 15 mins.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3: Database Lookup $\rightarrow$ Queries `teachers` table for matching username.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Execution Steps 4 to 6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4: Bcrypt Hash Match $\rightarrow$ Cryptographically verifies input password against stored hash.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5: Session Cookie $\rightarrow$ Generates 24-hour HttpOnly session cookie (`SameSite=Lax`).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Step 6: Dashboard Unlock $\rightarrow$ Redirects to dashboard; unlocks Owner Admin modal if role === 'owner'.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Security Hardening: Cryptography &amp;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Bcrypt Cryptographic Hashing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10 Salt Rounds: Enforces high compute cost protecting against rainbow table attacks.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Zero Plaintext Storage: Raw user passwords are NEVER written to disk or logs.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One-Way Function: Passwords cannot be reverse engineered even if database is leaked.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Automated Password Migration: `migrate_passwords.js` upgrades legacy hashes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Session &amp; Rate Limiting Guards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HttpOnly Session Cookies: Prevents JavaScript XSS cookie theft (`httpOnly: true`).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Brute-Force Shield: `express-rate-limit` throttles login attempts (10 req / 15 min).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Invite Code Access Gate: New teachers require secret institutional invite key.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Role-Based Middlewares: `requireOwner` enforces Super Admin privilege barriers.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Security Hardening: SQL Injection &amp; XSS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Parameterized SQL Query Protection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100% Parameterized Statements: Uses `db.execute('SELECT * FROM students WHERE id = ?', [id])`.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Zero String Concatenation: Input parameters are sent out-of-band to MySQL query engine.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Eliminates SQLi Risks: Blocks payload injections like `' OR '1'='1` automatically.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Strict Type Enforcement: Integers and strings are cast before binding to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XSS &amp; Header Defense Controls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Helmet HTTP Headers: Configures secure CSP, HSTS, X-Frame-Options, and nosniff headers.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HTML Input Sanitization: Strips executable script tags using `sanitize-html` middleware.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Multer Image Filtering: Enforces image MIME verification and 5MB maximum file size.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SameSite Cookie Policies: Protects against Cross-Site Request Forgery (CSRF) attacks.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API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RESTful API Endpoints Specification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Authentication &amp; Settings Routes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`POST /api/login`: Authenticate teacher credentials &amp; set 24h session cookie.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`POST /api/register`: Register new account with verified `invite_code`.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`GET /api/check-auth`: Returns active user session identity &amp; role.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`GET /api/settings`: Returns institutional settings (Owner only).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`POST /api/settings`: Rotates registration invite code (Owner only).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FFFFF"/>
                </a:solidFill>
              </a:defRPr>
            </a:pPr>
            <a:r>
              <a:t>Student Management Routes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`GET /api/students`: Fetch all student records or filter by search query.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`POST /api/students`: Create new student with age/course validation &amp; photo.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`PUT /api/students/:id`: Update existing student details &amp; image asset.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`DELETE /api/students/:id`: Remove student record with cascading asset cleanup.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</a:defRPr>
            </a:pPr>
            <a:r>
              <a:t>•  `POST /api/students/batch`: Bulk import array of student records.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Frontend Design System &amp; Glassmorphism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Visual Aesthetics &amp; Styling Tokens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Glassmorphism Cards: Translucent frosted glass effect (`backdrop-filter: blur(24px)`).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Aurora Mesh Background: Keyframe animated multi-color ambient radial gradients.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High-Contrast Palette: Deep Slate (`#070a12`), Electric Cyan (`#00f2fe`), Indigo (`#6366f1`).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Google Outfit Font: Premium geometric typography engineered for high legibility.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Micro-Interactions &amp; Responsiveness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Live Autocomplete Search: Instant client-side filtering without reloading the page.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Interactive Stats Badges: Real-time calculation of total students, courses &amp; teachers.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SweetAlert2 Confirmations: Smooth modal dialogs for destructive actions.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Mobile First Grid: Fluid CSS Grid scaling from smartphones up to 4K monitors.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DEPLOYMENT &amp;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Cloud Deployment &amp; Continuous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TiDB Cloud Database Infrastructure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Serverless MySQL Architecture: Managed distributed SQL cluster hosted on AWS.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Auto-Scaling Storage: Handles millions of queries with zero manual DBA intervention.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TLS SSL Encryption: Enforces encrypted SSL connection strings in `db.js` pool.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Self-Healing Migration: Automatically provisions tables on server startup.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Render.com Web Service Hosting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Automated Webhook Deployments: Triggers instant production rebuilds on git push.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Zero-Downtime Deployment: Traffic switches seamlessly once new build passes health checks.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Environment Secret Management: Securely injects `DB_HOST`, `DB_USER`, `DB_PASSWORD`.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100% Free Forever Stack: Zero hosting cost for institutional deployment.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TESTING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System Verification &amp; Integration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Automated Test Scripts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`test_server.js`: Automated HTTP REST API suite testing auth &amp; student CRUD routes.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`test_api.js`: Validates JSON schema payloads, error status codes &amp; age boundary checks.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`check_admin.js`: Verifies super admin initialization &amp; Bcrypt password hash integrity.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`check_db.js`: Validates Cloud TiDB network connectivity &amp; table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Manual UX &amp; Edge Case Tests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Boundary Testing: Verified student age rejection below 16 or above 25 years.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Uniqueness Testing: Attempted duplicate Roll ID and Email inserts; confirmed 409 Conflict.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File Size Testing: Attempted uploading 10MB non-image file; confirmed Multer 400 error.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Cross-Browser Testing: Verified seamless operation on Chrome, Firefox, Safari &amp; Edge.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Future Enhancements &amp; Scalability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Feature Roadmap (Phase 2)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Student Attendance Module: Daily barcode scanning &amp; digital attendance registers.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Grade &amp; Marksheet Portal: GPA tracking, exam marks management &amp; PDF transcript generation.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Automated Email Alerts: Send enrollment confirmations &amp; fee reminders via Nodemailer.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PWA Support: Offline access and desktop installation as a Progressive Web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Architectural Scalability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Redis Caching Layer: Cache active student rosters in Redis memory for zero DB latency.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Cloudinary Photo Storage: Offload local image uploads to global Cloudinary CDN.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OAuth2 / Single Sign-On (SSO): Enable Google Workspace &amp; Microsoft 365 logins.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Multi-Tenant Isolation: Support multiple school branches under unified organization ID.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Summary &amp; Key Project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Technical Accomplishments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Full-Stack Integration: Successfully connected Node.js, Express, MySQL TiDB &amp; HTML5 UI.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Enterprise Security: Implemented Bcrypt hashing, Rate limiting, and RBAC authorization.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Cloud Deployment: Fully deployed live web application with zero hosting cost.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Comprehensive Diagrams: Delivered complete ER, DFD L0, DFD L1, Use Case &amp; Flow diagrams.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Institutional Impact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Efficiency Boost: Replaces tedious paper registers with sub-second digital management.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Data Accuracy: Guarantees strict validation rules and zero duplicate student entries.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Universal Access: Empowers faculty teachers to work from anywhere on any device.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Production Ready: Solid foundation ready for immediate deployment in academic institutions.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Aft>
                <a:spcPts val="2400"/>
              </a:spcAft>
              <a:defRPr sz="2400">
                <a:solidFill>
                  <a:srgbClr val="00F2FE"/>
                </a:solidFill>
              </a:defRPr>
            </a:pPr>
            <a:r>
              <a:t>Student Management System (SMS) Technical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754880"/>
            <a:ext cx="5120640" cy="14630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983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Open for Questions &amp; Technical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754880"/>
            <a:ext cx="5120640" cy="14630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4983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Live Presentation File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•  Interactive Browser Slide Deck: presentation.html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