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663440" y="1371600"/>
            <a:ext cx="283464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FINAL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Student Management System</a:t>
            </a:r>
          </a:p>
          <a:p>
            <a:pPr algn="ctr">
              <a:spcBef>
                <a:spcPts val="2000"/>
              </a:spcBef>
              <a:defRPr sz="2800">
                <a:solidFill>
                  <a:srgbClr val="00F2FE"/>
                </a:solidFill>
              </a:defRPr>
            </a:pPr>
            <a:r>
              <a:t>Modern, Fast, Secure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645920"/>
            <a:ext cx="2286000" cy="365760"/>
          </a:xfrm>
          <a:prstGeom prst="roundRect">
            <a:avLst/>
          </a:prstGeom>
          <a:solidFill>
            <a:srgbClr val="070A1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THE OLD 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Why Upgrade?</a:t>
            </a:r>
          </a:p>
          <a:p>
            <a:pPr>
              <a:spcBef>
                <a:spcPts val="1000"/>
              </a:spcBef>
              <a:defRPr sz="2200">
                <a:solidFill>
                  <a:srgbClr val="94A3B8"/>
                </a:solidFill>
              </a:defRPr>
            </a:pPr>
            <a:r>
              <a:t>Legacy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0" y="1737360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FFFFFF"/>
                </a:solidFill>
              </a:defRPr>
            </a:pPr>
            <a:r>
              <a:t>Key Pain Points</a:t>
            </a:r>
          </a:p>
          <a:p>
            <a:pPr>
              <a:spcAft>
                <a:spcPts val="1600"/>
              </a:spcAft>
              <a:defRPr sz="1800">
                <a:solidFill>
                  <a:srgbClr val="E2E8F0"/>
                </a:solidFill>
              </a:defRPr>
            </a:pPr>
            <a:r>
              <a:t>→  Data Loss (Paper &amp; Excel)</a:t>
            </a:r>
          </a:p>
          <a:p>
            <a:pPr>
              <a:spcAft>
                <a:spcPts val="1600"/>
              </a:spcAft>
              <a:defRPr sz="1800">
                <a:solidFill>
                  <a:srgbClr val="E2E8F0"/>
                </a:solidFill>
              </a:defRPr>
            </a:pPr>
            <a:r>
              <a:t>→  Device Locked (No Cloud)</a:t>
            </a:r>
          </a:p>
          <a:p>
            <a:pPr>
              <a:spcAft>
                <a:spcPts val="1600"/>
              </a:spcAft>
              <a:defRPr sz="1800">
                <a:solidFill>
                  <a:srgbClr val="E2E8F0"/>
                </a:solidFill>
              </a:defRPr>
            </a:pPr>
            <a:r>
              <a:t>→  No Role Security</a:t>
            </a:r>
          </a:p>
          <a:p>
            <a:pPr>
              <a:spcAft>
                <a:spcPts val="1600"/>
              </a:spcAft>
              <a:defRPr sz="1800">
                <a:solidFill>
                  <a:srgbClr val="E2E8F0"/>
                </a:solidFill>
              </a:defRPr>
            </a:pPr>
            <a:r>
              <a:t>→  Slow Manual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BEFORE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Previous Dashboard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5912" cy="4754880"/>
          </a:xfrm>
          <a:prstGeom prst="rect">
            <a:avLst/>
          </a:prstGeom>
          <a:solidFill>
            <a:srgbClr val="94A3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/>
            </a:pPr>
            <a:r>
              <a:t>Please insert screenshot here:</a:t>
            </a:r>
          </a:p>
          <a:p>
            <a:r>
              <a:t>before_dashboard.png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BEFORE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Previous Forms &amp;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5912" cy="4754880"/>
          </a:xfrm>
          <a:prstGeom prst="rect">
            <a:avLst/>
          </a:prstGeom>
          <a:solidFill>
            <a:srgbClr val="94A3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/>
            </a:pPr>
            <a:r>
              <a:t>Please insert screenshot here:</a:t>
            </a:r>
          </a:p>
          <a:p>
            <a:r>
              <a:t>before_forms.png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0" y="1645920"/>
            <a:ext cx="2286000" cy="365760"/>
          </a:xfrm>
          <a:prstGeom prst="roundRect">
            <a:avLst/>
          </a:prstGeom>
          <a:solidFill>
            <a:srgbClr val="070A1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THE NEW 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0" y="22860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 Modern Solution</a:t>
            </a:r>
          </a:p>
          <a:p>
            <a:pPr>
              <a:spcBef>
                <a:spcPts val="1000"/>
              </a:spcBef>
              <a:defRPr sz="2200">
                <a:solidFill>
                  <a:srgbClr val="94A3B8"/>
                </a:solidFill>
              </a:defRPr>
            </a:pPr>
            <a:r>
              <a:t>What's New?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FFFFFF"/>
                </a:solidFill>
              </a:defRPr>
            </a:pPr>
            <a:r>
              <a:t>Major Upgrades</a:t>
            </a:r>
          </a:p>
          <a:p>
            <a:pPr>
              <a:spcAft>
                <a:spcPts val="1600"/>
              </a:spcAft>
              <a:defRPr sz="1800">
                <a:solidFill>
                  <a:srgbClr val="E2E8F0"/>
                </a:solidFill>
              </a:defRPr>
            </a:pPr>
            <a:r>
              <a:t>→  Cloud Sync (Real-time)</a:t>
            </a:r>
          </a:p>
          <a:p>
            <a:pPr>
              <a:spcAft>
                <a:spcPts val="1600"/>
              </a:spcAft>
              <a:defRPr sz="1800">
                <a:solidFill>
                  <a:srgbClr val="E2E8F0"/>
                </a:solidFill>
              </a:defRPr>
            </a:pPr>
            <a:r>
              <a:t>→  Owner vs Teacher Roles</a:t>
            </a:r>
          </a:p>
          <a:p>
            <a:pPr>
              <a:spcAft>
                <a:spcPts val="1600"/>
              </a:spcAft>
              <a:defRPr sz="1800">
                <a:solidFill>
                  <a:srgbClr val="E2E8F0"/>
                </a:solidFill>
              </a:defRPr>
            </a:pPr>
            <a:r>
              <a:t>→  1-Click CSV Bulk Actions</a:t>
            </a:r>
          </a:p>
          <a:p>
            <a:pPr>
              <a:spcAft>
                <a:spcPts val="1600"/>
              </a:spcAft>
              <a:defRPr sz="1800">
                <a:solidFill>
                  <a:srgbClr val="E2E8F0"/>
                </a:solidFill>
              </a:defRPr>
            </a:pPr>
            <a:r>
              <a:t>→  Modern Glassmorphism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WHAT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UI &amp; UX Overhaul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3291840" cy="27432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FFFFFF"/>
                </a:solidFill>
              </a:defRPr>
            </a:pPr>
            <a:r>
              <a:t>Single Page App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No page reloads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Instant navigation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Smooth transitions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560320"/>
            <a:ext cx="3291840" cy="27432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292608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FFFFFF"/>
                </a:solidFill>
              </a:defRPr>
            </a:pPr>
            <a:r>
              <a:t>Integrated Dashboards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Teacher Profiles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Student Roster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Course filtering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560320"/>
            <a:ext cx="3291840" cy="27432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292608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FFFFFF"/>
                </a:solidFill>
              </a:defRPr>
            </a:pPr>
            <a:r>
              <a:t>Quick Modals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Add/Edit without leaving page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Instant visual feedback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Under The Hood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560320"/>
            <a:ext cx="2560320" cy="32004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828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FFFFFF"/>
                </a:solidFill>
              </a:defRPr>
            </a:pPr>
            <a:r>
              <a:t>Frontend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HTML5 &amp; Vanilla JS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Glassmorphism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2560320"/>
            <a:ext cx="2560320" cy="32004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2926080"/>
            <a:ext cx="1828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FFFFFF"/>
                </a:solidFill>
              </a:defRPr>
            </a:pPr>
            <a:r>
              <a:t>Backend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Node.js API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Express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560320"/>
            <a:ext cx="2560320" cy="32004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926080"/>
            <a:ext cx="1828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FFFFFF"/>
                </a:solidFill>
              </a:defRPr>
            </a:pPr>
            <a:r>
              <a:t>Database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Serverless MySQL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2560320"/>
            <a:ext cx="2560320" cy="32004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926080"/>
            <a:ext cx="1828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FFFFFF"/>
                </a:solidFill>
              </a:defRPr>
            </a:pPr>
            <a:r>
              <a:t>Hosting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CI/CD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Database Entities</a:t>
            </a:r>
          </a:p>
        </p:txBody>
      </p:sp>
      <p:pic>
        <p:nvPicPr>
          <p:cNvPr id="4" name="Picture 3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591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DFD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Boundaries</a:t>
            </a:r>
          </a:p>
        </p:txBody>
      </p:sp>
      <p:pic>
        <p:nvPicPr>
          <p:cNvPr id="4" name="Picture 3" descr="dfd_level0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591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DFD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Modules</a:t>
            </a:r>
          </a:p>
        </p:txBody>
      </p:sp>
      <p:pic>
        <p:nvPicPr>
          <p:cNvPr id="4" name="Picture 3" descr="dfd_level1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591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645920"/>
            <a:ext cx="2286000" cy="365760"/>
          </a:xfrm>
          <a:prstGeom prst="roundRect">
            <a:avLst/>
          </a:prstGeom>
          <a:solidFill>
            <a:srgbClr val="070A1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Rock Solid</a:t>
            </a:r>
          </a:p>
          <a:p>
            <a:pPr>
              <a:spcBef>
                <a:spcPts val="1000"/>
              </a:spcBef>
              <a:defRPr sz="2200">
                <a:solidFill>
                  <a:srgbClr val="94A3B8"/>
                </a:solidFill>
              </a:defRPr>
            </a:pPr>
            <a:r>
              <a:t>Protection at every layer.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0" y="1737360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FFFFFF"/>
                </a:solidFill>
              </a:defRPr>
            </a:pPr>
            <a:r>
              <a:t>Defenses</a:t>
            </a:r>
          </a:p>
          <a:p>
            <a:pPr>
              <a:spcAft>
                <a:spcPts val="1600"/>
              </a:spcAft>
              <a:defRPr sz="1800">
                <a:solidFill>
                  <a:srgbClr val="E2E8F0"/>
                </a:solidFill>
              </a:defRPr>
            </a:pPr>
            <a:r>
              <a:t>→  Bcrypt Password Hashing</a:t>
            </a:r>
          </a:p>
          <a:p>
            <a:pPr>
              <a:spcAft>
                <a:spcPts val="1600"/>
              </a:spcAft>
              <a:defRPr sz="1800">
                <a:solidFill>
                  <a:srgbClr val="E2E8F0"/>
                </a:solidFill>
              </a:defRPr>
            </a:pPr>
            <a:r>
              <a:t>→  IP Rate Limiting</a:t>
            </a:r>
          </a:p>
          <a:p>
            <a:pPr>
              <a:spcAft>
                <a:spcPts val="1600"/>
              </a:spcAft>
              <a:defRPr sz="1800">
                <a:solidFill>
                  <a:srgbClr val="E2E8F0"/>
                </a:solidFill>
              </a:defRPr>
            </a:pPr>
            <a:r>
              <a:t>→  SQL Injection Protection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Process Logic</a:t>
            </a:r>
          </a:p>
        </p:txBody>
      </p:sp>
      <p:pic>
        <p:nvPicPr>
          <p:cNvPr id="4" name="Picture 3" descr="process_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591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Privileges</a:t>
            </a:r>
          </a:p>
        </p:txBody>
      </p:sp>
      <p:pic>
        <p:nvPicPr>
          <p:cNvPr id="4" name="Picture 3" descr="use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591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663440" y="1371600"/>
            <a:ext cx="283464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Built for the Future</a:t>
            </a:r>
          </a:p>
          <a:p>
            <a:pPr algn="ctr">
              <a:spcBef>
                <a:spcPts val="2000"/>
              </a:spcBef>
              <a:defRPr sz="2800">
                <a:solidFill>
                  <a:srgbClr val="00F2FE"/>
                </a:solidFill>
              </a:defRPr>
            </a:pPr>
            <a:r>
              <a:t>Secure, Automated, Scalable.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663440" y="1371600"/>
            <a:ext cx="283464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spcBef>
                <a:spcPts val="2000"/>
              </a:spcBef>
              <a:defRPr sz="2800">
                <a:solidFill>
                  <a:srgbClr val="00F2FE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